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0"/>
    <p:restoredTop sz="94610"/>
  </p:normalViewPr>
  <p:slideViewPr>
    <p:cSldViewPr snapToGrid="0" snapToObjects="1">
      <p:cViewPr varScale="1">
        <p:scale>
          <a:sx n="125" d="100"/>
          <a:sy n="125" d="100"/>
        </p:scale>
        <p:origin x="168"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1A2E"/>
                </a:solidFill>
                <a:latin typeface="Calibri"/>
              </a:defRPr>
            </a:pPr>
            <a:r>
              <a:rPr lang="en-US" sz="1300" b="0" i="0" u="none" strike="noStrike" dirty="0">
                <a:solidFill>
                  <a:srgbClr val="1A1A2E"/>
                </a:solidFill>
                <a:latin typeface="Calibri"/>
              </a:rPr>
              <a:t>Mean absolute error (pp) </a:t>
            </a:r>
          </a:p>
        </c:rich>
      </c:tx>
      <c:overlay val="0"/>
    </c:title>
    <c:autoTitleDeleted val="0"/>
    <c:plotArea>
      <c:layout/>
      <c:barChart>
        <c:barDir val="col"/>
        <c:grouping val="clustered"/>
        <c:varyColors val="0"/>
        <c:ser>
          <c:idx val="0"/>
          <c:order val="0"/>
          <c:tx>
            <c:strRef>
              <c:f>Sheet1!$B$1</c:f>
              <c:strCache>
                <c:ptCount val="1"/>
                <c:pt idx="0">
                  <c:v>Kalshi</c:v>
                </c:pt>
              </c:strCache>
            </c:strRef>
          </c:tx>
          <c:spPr>
            <a:solidFill>
              <a:srgbClr val="1E2761"/>
            </a:solidFill>
            <a:effectLst/>
          </c:spPr>
          <c:invertIfNegative val="0"/>
          <c:dLbls>
            <c:numFmt formatCode="0.000" sourceLinked="0"/>
            <c:spPr>
              <a:noFill/>
              <a:ln>
                <a:noFill/>
              </a:ln>
              <a:effectLst/>
            </c:spPr>
            <c:txPr>
              <a:bodyPr/>
              <a:lstStyle/>
              <a:p>
                <a:pPr>
                  <a:defRPr sz="95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30 days out</c:v>
                </c:pt>
                <c:pt idx="1">
                  <c:v>14 days out</c:v>
                </c:pt>
                <c:pt idx="2">
                  <c:v>7 days out</c:v>
                </c:pt>
                <c:pt idx="3">
                  <c:v>1 day out</c:v>
                </c:pt>
              </c:strCache>
            </c:strRef>
          </c:cat>
          <c:val>
            <c:numRef>
              <c:f>Sheet1!$B$2:$B$5</c:f>
              <c:numCache>
                <c:formatCode>General</c:formatCode>
                <c:ptCount val="4"/>
                <c:pt idx="0">
                  <c:v>0.13739999999999999</c:v>
                </c:pt>
                <c:pt idx="1">
                  <c:v>0.10539999999999999</c:v>
                </c:pt>
                <c:pt idx="2">
                  <c:v>0.1004</c:v>
                </c:pt>
                <c:pt idx="3">
                  <c:v>9.01E-2</c:v>
                </c:pt>
              </c:numCache>
            </c:numRef>
          </c:val>
          <c:extLst>
            <c:ext xmlns:c16="http://schemas.microsoft.com/office/drawing/2014/chart" uri="{C3380CC4-5D6E-409C-BE32-E72D297353CC}">
              <c16:uniqueId val="{00000000-60C3-DD41-8EE0-B0BAEC0BEE1D}"/>
            </c:ext>
          </c:extLst>
        </c:ser>
        <c:ser>
          <c:idx val="1"/>
          <c:order val="1"/>
          <c:tx>
            <c:strRef>
              <c:f>Sheet1!$C$1</c:f>
              <c:strCache>
                <c:ptCount val="1"/>
                <c:pt idx="0">
                  <c:v>Cleveland Fed</c:v>
                </c:pt>
              </c:strCache>
            </c:strRef>
          </c:tx>
          <c:spPr>
            <a:solidFill>
              <a:srgbClr val="F96167"/>
            </a:solidFill>
            <a:effectLst/>
          </c:spPr>
          <c:invertIfNegative val="0"/>
          <c:dLbls>
            <c:numFmt formatCode="0.000" sourceLinked="0"/>
            <c:spPr>
              <a:noFill/>
              <a:ln>
                <a:noFill/>
              </a:ln>
              <a:effectLst/>
            </c:spPr>
            <c:txPr>
              <a:bodyPr/>
              <a:lstStyle/>
              <a:p>
                <a:pPr>
                  <a:defRPr sz="95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30 days out</c:v>
                </c:pt>
                <c:pt idx="1">
                  <c:v>14 days out</c:v>
                </c:pt>
                <c:pt idx="2">
                  <c:v>7 days out</c:v>
                </c:pt>
                <c:pt idx="3">
                  <c:v>1 day out</c:v>
                </c:pt>
              </c:strCache>
            </c:strRef>
          </c:cat>
          <c:val>
            <c:numRef>
              <c:f>Sheet1!$C$2:$C$5</c:f>
              <c:numCache>
                <c:formatCode>General</c:formatCode>
                <c:ptCount val="4"/>
                <c:pt idx="0">
                  <c:v>0.14960000000000001</c:v>
                </c:pt>
                <c:pt idx="1">
                  <c:v>0.1273</c:v>
                </c:pt>
                <c:pt idx="2">
                  <c:v>0.12609999999999999</c:v>
                </c:pt>
                <c:pt idx="3">
                  <c:v>0.12820000000000001</c:v>
                </c:pt>
              </c:numCache>
            </c:numRef>
          </c:val>
          <c:extLst>
            <c:ext xmlns:c16="http://schemas.microsoft.com/office/drawing/2014/chart" uri="{C3380CC4-5D6E-409C-BE32-E72D297353CC}">
              <c16:uniqueId val="{00000001-60C3-DD41-8EE0-B0BAEC0BEE1D}"/>
            </c:ext>
          </c:extLst>
        </c:ser>
        <c:dLbls>
          <c:showLegendKey val="0"/>
          <c:showVal val="1"/>
          <c:showCatName val="0"/>
          <c:showSerName val="0"/>
          <c:showPercent val="0"/>
          <c:showBubbleSize val="0"/>
        </c:dLbls>
        <c:gapWidth val="60"/>
        <c:overlap val="-1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A6280"/>
                </a:solidFill>
                <a:latin typeface="Arial"/>
              </a:defRPr>
            </a:pPr>
            <a:endParaRPr lang="en-US"/>
          </a:p>
        </c:txPr>
        <c:crossAx val="2094734552"/>
        <c:crosses val="autoZero"/>
        <c:auto val="1"/>
        <c:lblAlgn val="ctr"/>
        <c:lblOffset val="100"/>
        <c:noMultiLvlLbl val="1"/>
      </c:catAx>
      <c:valAx>
        <c:axId val="2094734552"/>
        <c:scaling>
          <c:orientation val="minMax"/>
          <c:max val="0.16"/>
        </c:scaling>
        <c:delete val="0"/>
        <c:axPos val="l"/>
        <c:majorGridlines>
          <c:spPr>
            <a:ln w="9525" cap="flat">
              <a:solidFill>
                <a:srgbClr val="E4E9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A1A2E"/>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1A2E"/>
                </a:solidFill>
                <a:latin typeface="Calibri"/>
              </a:defRPr>
            </a:pPr>
            <a:r>
              <a:rPr lang="en-US" sz="1300" b="0" i="0" u="none" strike="noStrike" dirty="0">
                <a:solidFill>
                  <a:srgbClr val="1A1A2E"/>
                </a:solidFill>
                <a:latin typeface="Calibri"/>
              </a:rPr>
              <a:t>Root mean squared error (pp) </a:t>
            </a:r>
          </a:p>
        </c:rich>
      </c:tx>
      <c:overlay val="0"/>
    </c:title>
    <c:autoTitleDeleted val="0"/>
    <c:plotArea>
      <c:layout/>
      <c:barChart>
        <c:barDir val="col"/>
        <c:grouping val="clustered"/>
        <c:varyColors val="0"/>
        <c:ser>
          <c:idx val="0"/>
          <c:order val="0"/>
          <c:tx>
            <c:strRef>
              <c:f>Sheet1!$B$1</c:f>
              <c:strCache>
                <c:ptCount val="1"/>
                <c:pt idx="0">
                  <c:v>Kalshi</c:v>
                </c:pt>
              </c:strCache>
            </c:strRef>
          </c:tx>
          <c:spPr>
            <a:solidFill>
              <a:srgbClr val="1E2761"/>
            </a:solidFill>
            <a:effectLst/>
          </c:spPr>
          <c:invertIfNegative val="0"/>
          <c:dLbls>
            <c:numFmt formatCode="0.000" sourceLinked="0"/>
            <c:spPr>
              <a:noFill/>
              <a:ln>
                <a:noFill/>
              </a:ln>
              <a:effectLst/>
            </c:spPr>
            <c:txPr>
              <a:bodyPr/>
              <a:lstStyle/>
              <a:p>
                <a:pPr>
                  <a:defRPr sz="95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30 days out</c:v>
                </c:pt>
                <c:pt idx="1">
                  <c:v>14 days out</c:v>
                </c:pt>
                <c:pt idx="2">
                  <c:v>7 days out</c:v>
                </c:pt>
                <c:pt idx="3">
                  <c:v>1 day out</c:v>
                </c:pt>
              </c:strCache>
            </c:strRef>
          </c:cat>
          <c:val>
            <c:numRef>
              <c:f>Sheet1!$B$2:$B$5</c:f>
              <c:numCache>
                <c:formatCode>General</c:formatCode>
                <c:ptCount val="4"/>
                <c:pt idx="0">
                  <c:v>0.185</c:v>
                </c:pt>
                <c:pt idx="1">
                  <c:v>0.14360000000000001</c:v>
                </c:pt>
                <c:pt idx="2">
                  <c:v>0.13719999999999999</c:v>
                </c:pt>
                <c:pt idx="3">
                  <c:v>0.1245</c:v>
                </c:pt>
              </c:numCache>
            </c:numRef>
          </c:val>
          <c:extLst>
            <c:ext xmlns:c16="http://schemas.microsoft.com/office/drawing/2014/chart" uri="{C3380CC4-5D6E-409C-BE32-E72D297353CC}">
              <c16:uniqueId val="{00000000-CCE2-4F40-B80A-88FB461E3FFE}"/>
            </c:ext>
          </c:extLst>
        </c:ser>
        <c:ser>
          <c:idx val="1"/>
          <c:order val="1"/>
          <c:tx>
            <c:strRef>
              <c:f>Sheet1!$C$1</c:f>
              <c:strCache>
                <c:ptCount val="1"/>
                <c:pt idx="0">
                  <c:v>Cleveland Fed</c:v>
                </c:pt>
              </c:strCache>
            </c:strRef>
          </c:tx>
          <c:spPr>
            <a:solidFill>
              <a:srgbClr val="F96167"/>
            </a:solidFill>
            <a:effectLst/>
          </c:spPr>
          <c:invertIfNegative val="0"/>
          <c:dLbls>
            <c:numFmt formatCode="0.000" sourceLinked="0"/>
            <c:spPr>
              <a:noFill/>
              <a:ln>
                <a:noFill/>
              </a:ln>
              <a:effectLst/>
            </c:spPr>
            <c:txPr>
              <a:bodyPr/>
              <a:lstStyle/>
              <a:p>
                <a:pPr>
                  <a:defRPr sz="95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30 days out</c:v>
                </c:pt>
                <c:pt idx="1">
                  <c:v>14 days out</c:v>
                </c:pt>
                <c:pt idx="2">
                  <c:v>7 days out</c:v>
                </c:pt>
                <c:pt idx="3">
                  <c:v>1 day out</c:v>
                </c:pt>
              </c:strCache>
            </c:strRef>
          </c:cat>
          <c:val>
            <c:numRef>
              <c:f>Sheet1!$C$2:$C$5</c:f>
              <c:numCache>
                <c:formatCode>General</c:formatCode>
                <c:ptCount val="4"/>
                <c:pt idx="0">
                  <c:v>0.1983</c:v>
                </c:pt>
                <c:pt idx="1">
                  <c:v>0.16569999999999999</c:v>
                </c:pt>
                <c:pt idx="2">
                  <c:v>0.16370000000000001</c:v>
                </c:pt>
                <c:pt idx="3">
                  <c:v>0.16550000000000001</c:v>
                </c:pt>
              </c:numCache>
            </c:numRef>
          </c:val>
          <c:extLst>
            <c:ext xmlns:c16="http://schemas.microsoft.com/office/drawing/2014/chart" uri="{C3380CC4-5D6E-409C-BE32-E72D297353CC}">
              <c16:uniqueId val="{00000001-CCE2-4F40-B80A-88FB461E3FFE}"/>
            </c:ext>
          </c:extLst>
        </c:ser>
        <c:dLbls>
          <c:showLegendKey val="0"/>
          <c:showVal val="1"/>
          <c:showCatName val="0"/>
          <c:showSerName val="0"/>
          <c:showPercent val="0"/>
          <c:showBubbleSize val="0"/>
        </c:dLbls>
        <c:gapWidth val="60"/>
        <c:overlap val="-1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A6280"/>
                </a:solidFill>
                <a:latin typeface="Arial"/>
              </a:defRPr>
            </a:pPr>
            <a:endParaRPr lang="en-US"/>
          </a:p>
        </c:txPr>
        <c:crossAx val="2094734552"/>
        <c:crosses val="autoZero"/>
        <c:auto val="1"/>
        <c:lblAlgn val="ctr"/>
        <c:lblOffset val="100"/>
        <c:noMultiLvlLbl val="1"/>
      </c:catAx>
      <c:valAx>
        <c:axId val="2094734552"/>
        <c:scaling>
          <c:orientation val="minMax"/>
          <c:max val="0.21"/>
        </c:scaling>
        <c:delete val="0"/>
        <c:axPos val="l"/>
        <c:majorGridlines>
          <c:spPr>
            <a:ln w="9525" cap="flat">
              <a:solidFill>
                <a:srgbClr val="E4E9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A1A2E"/>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8596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90s. Two metrics, same story. MAE = the typical miss. RMSE squares errors before averaging, so it punishes the big misses - if Kalshi's advantage came only from easy months, RMSE would close the gap; instead it stays wide (0.125 vs 0.166 one day out). The nowcast plateaus from 14 days onward while the market keeps improving into the release. Both forecasters are essentially unbiased (Kalshi +0.002, nowcast +0.010) - the difference is precision, not tilt.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Plain-language walk: each month, subtract the nowcast's absolute error from Kalshi's - negative means Kalshi was closer. Average those differences and ask whether the average is too far below zero to be luck; that is all Diebold-Mariano is, a t-test on loss differences that is robust to autocorrelation. Read the table top down: significant in the final week, direction consistent everywhere. Presenting the two non-significant rows is what makes the significant rows credible.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The market beats the model at every horizon</a:t>
            </a:r>
            <a:endParaRPr lang="en-US" sz="2900" dirty="0"/>
          </a:p>
        </p:txBody>
      </p:sp>
      <p:sp>
        <p:nvSpPr>
          <p:cNvPr id="3" name="Text 1"/>
          <p:cNvSpPr/>
          <p:nvPr/>
        </p:nvSpPr>
        <p:spPr>
          <a:xfrm>
            <a:off x="548640" y="960120"/>
            <a:ext cx="11064240" cy="365760"/>
          </a:xfrm>
          <a:prstGeom prst="rect">
            <a:avLst/>
          </a:prstGeom>
          <a:noFill/>
          <a:ln/>
        </p:spPr>
        <p:txBody>
          <a:bodyPr wrap="square" rtlCol="0" anchor="ctr"/>
          <a:lstStyle/>
          <a:p>
            <a:pPr marL="0" indent="0">
              <a:buNone/>
            </a:pPr>
            <a:r>
              <a:rPr lang="en-US" sz="1300" dirty="0">
                <a:solidFill>
                  <a:srgbClr val="5A6280"/>
                </a:solidFill>
                <a:latin typeface="Calibri" pitchFamily="34" charset="0"/>
                <a:ea typeface="Calibri" pitchFamily="34" charset="-122"/>
                <a:cs typeface="Calibri" pitchFamily="34" charset="-120"/>
              </a:rPr>
              <a:t>Kalshi implied mean vs. Cleveland Fed nowcast, evaluated against first-release CPI (57 settled events, real-time vintages)</a:t>
            </a:r>
            <a:endParaRPr lang="en-US" sz="1300" dirty="0"/>
          </a:p>
        </p:txBody>
      </p:sp>
      <p:graphicFrame>
        <p:nvGraphicFramePr>
          <p:cNvPr id="4" name="Chart 0"/>
          <p:cNvGraphicFramePr/>
          <p:nvPr>
            <p:extLst>
              <p:ext uri="{D42A27DB-BD31-4B8C-83A1-F6EECF244321}">
                <p14:modId xmlns:p14="http://schemas.microsoft.com/office/powerpoint/2010/main" val="3525278181"/>
              </p:ext>
            </p:extLst>
          </p:nvPr>
        </p:nvGraphicFramePr>
        <p:xfrm>
          <a:off x="548640" y="1554480"/>
          <a:ext cx="5486400" cy="3931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extLst>
              <p:ext uri="{D42A27DB-BD31-4B8C-83A1-F6EECF244321}">
                <p14:modId xmlns:p14="http://schemas.microsoft.com/office/powerpoint/2010/main" val="3530028706"/>
              </p:ext>
            </p:extLst>
          </p:nvPr>
        </p:nvGraphicFramePr>
        <p:xfrm>
          <a:off x="6263640" y="1554480"/>
          <a:ext cx="548640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548640" y="5715000"/>
            <a:ext cx="11201400" cy="777240"/>
          </a:xfrm>
          <a:prstGeom prst="roundRect">
            <a:avLst>
              <a:gd name="adj" fmla="val 9412"/>
            </a:avLst>
          </a:prstGeom>
          <a:solidFill>
            <a:srgbClr val="1E2761"/>
          </a:solidFill>
          <a:ln/>
        </p:spPr>
        <p:txBody>
          <a:bodyPr/>
          <a:lstStyle/>
          <a:p>
            <a:endParaRPr lang="en-US"/>
          </a:p>
        </p:txBody>
      </p:sp>
      <p:sp>
        <p:nvSpPr>
          <p:cNvPr id="7" name="Text 3"/>
          <p:cNvSpPr/>
          <p:nvPr/>
        </p:nvSpPr>
        <p:spPr>
          <a:xfrm>
            <a:off x="822960" y="5715000"/>
            <a:ext cx="10698480" cy="7772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One day out: 0.090 vs 0.128 pp (MAE)  ·  0.125 vs 0.166 pp (RMSE).  </a:t>
            </a:r>
            <a:r>
              <a:rPr lang="en-US" sz="1300" dirty="0">
                <a:solidFill>
                  <a:srgbClr val="CADCFC"/>
                </a:solidFill>
                <a:latin typeface="Calibri" pitchFamily="34" charset="0"/>
                <a:ea typeface="Calibri" pitchFamily="34" charset="-122"/>
                <a:cs typeface="Calibri" pitchFamily="34" charset="-120"/>
              </a:rPr>
              <a:t>Kalshi's edge widens toward release and holds under both metrics — including RMSE, which weights the big surprise months most.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Is the gap real? The Diebold–Mariano test</a:t>
            </a:r>
            <a:endParaRPr lang="en-US" sz="2900" dirty="0"/>
          </a:p>
        </p:txBody>
      </p:sp>
      <p:sp>
        <p:nvSpPr>
          <p:cNvPr id="3" name="Text 1"/>
          <p:cNvSpPr/>
          <p:nvPr/>
        </p:nvSpPr>
        <p:spPr>
          <a:xfrm>
            <a:off x="548640" y="960120"/>
            <a:ext cx="11064240" cy="365760"/>
          </a:xfrm>
          <a:prstGeom prst="rect">
            <a:avLst/>
          </a:prstGeom>
          <a:noFill/>
          <a:ln/>
        </p:spPr>
        <p:txBody>
          <a:bodyPr wrap="square" rtlCol="0" anchor="ctr"/>
          <a:lstStyle/>
          <a:p>
            <a:pPr marL="0" indent="0">
              <a:buNone/>
            </a:pPr>
            <a:r>
              <a:rPr lang="en-US" sz="1300" dirty="0">
                <a:solidFill>
                  <a:srgbClr val="5A6280"/>
                </a:solidFill>
                <a:latin typeface="Calibri" pitchFamily="34" charset="0"/>
                <a:ea typeface="Calibri" pitchFamily="34" charset="-122"/>
                <a:cs typeface="Calibri" pitchFamily="34" charset="-120"/>
              </a:rPr>
              <a:t>A significance test for comparing two forecasters on the same events</a:t>
            </a:r>
            <a:endParaRPr lang="en-US" sz="1300" dirty="0"/>
          </a:p>
        </p:txBody>
      </p:sp>
      <p:sp>
        <p:nvSpPr>
          <p:cNvPr id="4" name="Shape 2"/>
          <p:cNvSpPr/>
          <p:nvPr/>
        </p:nvSpPr>
        <p:spPr>
          <a:xfrm>
            <a:off x="548640" y="1554480"/>
            <a:ext cx="5486400" cy="1325880"/>
          </a:xfrm>
          <a:prstGeom prst="roundRect">
            <a:avLst>
              <a:gd name="adj" fmla="val 5517"/>
            </a:avLst>
          </a:prstGeom>
          <a:solidFill>
            <a:srgbClr val="EEF3FC"/>
          </a:solidFill>
          <a:ln/>
        </p:spPr>
        <p:txBody>
          <a:bodyPr/>
          <a:lstStyle/>
          <a:p>
            <a:endParaRPr lang="en-US"/>
          </a:p>
        </p:txBody>
      </p:sp>
      <p:sp>
        <p:nvSpPr>
          <p:cNvPr id="5" name="Text 3"/>
          <p:cNvSpPr/>
          <p:nvPr/>
        </p:nvSpPr>
        <p:spPr>
          <a:xfrm>
            <a:off x="822960" y="1664208"/>
            <a:ext cx="4937760" cy="3200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What it asks</a:t>
            </a:r>
            <a:endParaRPr lang="en-US" sz="1350" dirty="0"/>
          </a:p>
        </p:txBody>
      </p:sp>
      <p:sp>
        <p:nvSpPr>
          <p:cNvPr id="6" name="Text 4"/>
          <p:cNvSpPr/>
          <p:nvPr/>
        </p:nvSpPr>
        <p:spPr>
          <a:xfrm>
            <a:off x="822960" y="1984248"/>
            <a:ext cx="5029200" cy="868680"/>
          </a:xfrm>
          <a:prstGeom prst="rect">
            <a:avLst/>
          </a:prstGeom>
          <a:noFill/>
          <a:ln/>
        </p:spPr>
        <p:txBody>
          <a:bodyPr wrap="square" rtlCol="0" anchor="t"/>
          <a:lstStyle/>
          <a:p>
            <a:pPr marL="0" indent="0">
              <a:buNone/>
            </a:pPr>
            <a:r>
              <a:rPr lang="en-US" sz="1180" dirty="0">
                <a:solidFill>
                  <a:srgbClr val="1A1A2E"/>
                </a:solidFill>
                <a:latin typeface="Calibri" pitchFamily="34" charset="0"/>
                <a:ea typeface="Calibri" pitchFamily="34" charset="-122"/>
                <a:cs typeface="Calibri" pitchFamily="34" charset="-120"/>
              </a:rPr>
              <a:t>Could the accuracy gap between two forecasters be luck? With ~56 events, one forecaster will beat the other in some months by chance alone.</a:t>
            </a:r>
            <a:endParaRPr lang="en-US" sz="1180" dirty="0"/>
          </a:p>
        </p:txBody>
      </p:sp>
      <p:sp>
        <p:nvSpPr>
          <p:cNvPr id="7" name="Shape 5"/>
          <p:cNvSpPr/>
          <p:nvPr/>
        </p:nvSpPr>
        <p:spPr>
          <a:xfrm>
            <a:off x="548640" y="3035808"/>
            <a:ext cx="5486400" cy="1325880"/>
          </a:xfrm>
          <a:prstGeom prst="roundRect">
            <a:avLst>
              <a:gd name="adj" fmla="val 5517"/>
            </a:avLst>
          </a:prstGeom>
          <a:solidFill>
            <a:srgbClr val="EEF3FC"/>
          </a:solidFill>
          <a:ln/>
        </p:spPr>
        <p:txBody>
          <a:bodyPr/>
          <a:lstStyle/>
          <a:p>
            <a:endParaRPr lang="en-US"/>
          </a:p>
        </p:txBody>
      </p:sp>
      <p:sp>
        <p:nvSpPr>
          <p:cNvPr id="8" name="Text 6"/>
          <p:cNvSpPr/>
          <p:nvPr/>
        </p:nvSpPr>
        <p:spPr>
          <a:xfrm>
            <a:off x="822960" y="3145536"/>
            <a:ext cx="4937760" cy="3200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How it works</a:t>
            </a:r>
            <a:endParaRPr lang="en-US" sz="1350" dirty="0"/>
          </a:p>
        </p:txBody>
      </p:sp>
      <p:sp>
        <p:nvSpPr>
          <p:cNvPr id="9" name="Text 7"/>
          <p:cNvSpPr/>
          <p:nvPr/>
        </p:nvSpPr>
        <p:spPr>
          <a:xfrm>
            <a:off x="822960" y="3465576"/>
            <a:ext cx="5029200" cy="868680"/>
          </a:xfrm>
          <a:prstGeom prst="rect">
            <a:avLst/>
          </a:prstGeom>
          <a:noFill/>
          <a:ln/>
        </p:spPr>
        <p:txBody>
          <a:bodyPr wrap="square" rtlCol="0" anchor="t"/>
          <a:lstStyle/>
          <a:p>
            <a:pPr marL="0" indent="0">
              <a:buNone/>
            </a:pPr>
            <a:r>
              <a:rPr lang="en-US" sz="1180" dirty="0">
                <a:solidFill>
                  <a:srgbClr val="1A1A2E"/>
                </a:solidFill>
                <a:latin typeface="Calibri" pitchFamily="34" charset="0"/>
                <a:ea typeface="Calibri" pitchFamily="34" charset="-122"/>
                <a:cs typeface="Calibri" pitchFamily="34" charset="-120"/>
              </a:rPr>
              <a:t>For each month, compute the loss difference dₜ = |Kalshi error| − |nowcast error|. If the two are equally good, these differences average zero. The test is a t-test on that average, with a variance robust to autocorrelation across months.</a:t>
            </a:r>
            <a:endParaRPr lang="en-US" sz="1180" dirty="0"/>
          </a:p>
        </p:txBody>
      </p:sp>
      <p:sp>
        <p:nvSpPr>
          <p:cNvPr id="10" name="Shape 8"/>
          <p:cNvSpPr/>
          <p:nvPr/>
        </p:nvSpPr>
        <p:spPr>
          <a:xfrm>
            <a:off x="548640" y="4517136"/>
            <a:ext cx="5486400" cy="1325880"/>
          </a:xfrm>
          <a:prstGeom prst="roundRect">
            <a:avLst>
              <a:gd name="adj" fmla="val 5517"/>
            </a:avLst>
          </a:prstGeom>
          <a:solidFill>
            <a:srgbClr val="EEF3FC"/>
          </a:solidFill>
          <a:ln/>
        </p:spPr>
        <p:txBody>
          <a:bodyPr/>
          <a:lstStyle/>
          <a:p>
            <a:endParaRPr lang="en-US"/>
          </a:p>
        </p:txBody>
      </p:sp>
      <p:sp>
        <p:nvSpPr>
          <p:cNvPr id="11" name="Text 9"/>
          <p:cNvSpPr/>
          <p:nvPr/>
        </p:nvSpPr>
        <p:spPr>
          <a:xfrm>
            <a:off x="822960" y="4626864"/>
            <a:ext cx="4937760" cy="3200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How to read it</a:t>
            </a:r>
            <a:endParaRPr lang="en-US" sz="1350" dirty="0"/>
          </a:p>
        </p:txBody>
      </p:sp>
      <p:sp>
        <p:nvSpPr>
          <p:cNvPr id="12" name="Text 10"/>
          <p:cNvSpPr/>
          <p:nvPr/>
        </p:nvSpPr>
        <p:spPr>
          <a:xfrm>
            <a:off x="822960" y="4946904"/>
            <a:ext cx="5029200" cy="868680"/>
          </a:xfrm>
          <a:prstGeom prst="rect">
            <a:avLst/>
          </a:prstGeom>
          <a:noFill/>
          <a:ln/>
        </p:spPr>
        <p:txBody>
          <a:bodyPr wrap="square" rtlCol="0" anchor="t"/>
          <a:lstStyle/>
          <a:p>
            <a:pPr marL="0" indent="0">
              <a:buNone/>
            </a:pPr>
            <a:r>
              <a:rPr lang="en-US" sz="1180" dirty="0">
                <a:solidFill>
                  <a:srgbClr val="1A1A2E"/>
                </a:solidFill>
                <a:latin typeface="Calibri" pitchFamily="34" charset="0"/>
                <a:ea typeface="Calibri" pitchFamily="34" charset="-122"/>
                <a:cs typeface="Calibri" pitchFamily="34" charset="-120"/>
              </a:rPr>
              <a:t>Negative t-stat → Kalshi's errors are smaller. p-value = probability of a gap this large if the forecasters were truly equal; below 0.05 = statistically significant.</a:t>
            </a:r>
            <a:endParaRPr lang="en-US" sz="1180" dirty="0"/>
          </a:p>
        </p:txBody>
      </p:sp>
      <p:sp>
        <p:nvSpPr>
          <p:cNvPr id="13" name="Text 11"/>
          <p:cNvSpPr/>
          <p:nvPr/>
        </p:nvSpPr>
        <p:spPr>
          <a:xfrm>
            <a:off x="6400800" y="1600200"/>
            <a:ext cx="512064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Results — |error| loss, n = 56 common events</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0" y="2057400"/>
          <a:ext cx="5212080" cy="2377440"/>
        </p:xfrm>
        <a:graphic>
          <a:graphicData uri="http://schemas.openxmlformats.org/drawingml/2006/table">
            <a:tbl>
              <a:tblPr/>
              <a:tblGrid>
                <a:gridCol w="1042416">
                  <a:extLst>
                    <a:ext uri="{9D8B030D-6E8A-4147-A177-3AD203B41FA5}">
                      <a16:colId xmlns:a16="http://schemas.microsoft.com/office/drawing/2014/main" val="20000"/>
                    </a:ext>
                  </a:extLst>
                </a:gridCol>
                <a:gridCol w="1042416">
                  <a:extLst>
                    <a:ext uri="{9D8B030D-6E8A-4147-A177-3AD203B41FA5}">
                      <a16:colId xmlns:a16="http://schemas.microsoft.com/office/drawing/2014/main" val="20001"/>
                    </a:ext>
                  </a:extLst>
                </a:gridCol>
                <a:gridCol w="1042416">
                  <a:extLst>
                    <a:ext uri="{9D8B030D-6E8A-4147-A177-3AD203B41FA5}">
                      <a16:colId xmlns:a16="http://schemas.microsoft.com/office/drawing/2014/main" val="20002"/>
                    </a:ext>
                  </a:extLst>
                </a:gridCol>
                <a:gridCol w="1042416">
                  <a:extLst>
                    <a:ext uri="{9D8B030D-6E8A-4147-A177-3AD203B41FA5}">
                      <a16:colId xmlns:a16="http://schemas.microsoft.com/office/drawing/2014/main" val="20003"/>
                    </a:ext>
                  </a:extLst>
                </a:gridCol>
                <a:gridCol w="1042416">
                  <a:extLst>
                    <a:ext uri="{9D8B030D-6E8A-4147-A177-3AD203B41FA5}">
                      <a16:colId xmlns:a16="http://schemas.microsoft.com/office/drawing/2014/main" val="20004"/>
                    </a:ext>
                  </a:extLst>
                </a:gridCol>
              </a:tblGrid>
              <a:tr h="475488">
                <a:tc>
                  <a:txBody>
                    <a:bodyPr/>
                    <a:lstStyle/>
                    <a:p>
                      <a:pPr marL="0" indent="0" algn="ctr">
                        <a:buNone/>
                      </a:pPr>
                      <a:r>
                        <a:rPr lang="en-US" sz="1250" b="1" dirty="0">
                          <a:solidFill>
                            <a:srgbClr val="1A1A2E"/>
                          </a:solidFill>
                          <a:latin typeface="Calibri" pitchFamily="34" charset="0"/>
                          <a:ea typeface="Calibri" pitchFamily="34" charset="-122"/>
                          <a:cs typeface="Calibri" pitchFamily="34" charset="-120"/>
                        </a:rPr>
                        <a:t>Horizon</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A1A2E"/>
                          </a:solidFill>
                          <a:latin typeface="Calibri" pitchFamily="34" charset="0"/>
                          <a:ea typeface="Calibri" pitchFamily="34" charset="-122"/>
                          <a:cs typeface="Calibri" pitchFamily="34" charset="-120"/>
                        </a:rPr>
                        <a:t>Mean loss diff</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A1A2E"/>
                          </a:solidFill>
                          <a:latin typeface="Calibri" pitchFamily="34" charset="0"/>
                          <a:ea typeface="Calibri" pitchFamily="34" charset="-122"/>
                          <a:cs typeface="Calibri" pitchFamily="34" charset="-120"/>
                        </a:rPr>
                        <a:t>t-stat</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A1A2E"/>
                          </a:solidFill>
                          <a:latin typeface="Calibri" pitchFamily="34" charset="0"/>
                          <a:ea typeface="Calibri" pitchFamily="34" charset="-122"/>
                          <a:cs typeface="Calibri" pitchFamily="34" charset="-120"/>
                        </a:rPr>
                        <a:t>p-value</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A1A2E"/>
                          </a:solidFill>
                          <a:latin typeface="Calibri" pitchFamily="34" charset="0"/>
                          <a:ea typeface="Calibri" pitchFamily="34" charset="-122"/>
                          <a:cs typeface="Calibri" pitchFamily="34" charset="-120"/>
                        </a:rPr>
                        <a:t>Verdict</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75488">
                <a:tc>
                  <a:txBody>
                    <a:bodyPr/>
                    <a:lstStyle/>
                    <a:p>
                      <a:pPr marL="0" indent="0" algn="ctr">
                        <a:buNone/>
                      </a:pPr>
                      <a:r>
                        <a:rPr lang="en-US" sz="1250" dirty="0">
                          <a:solidFill>
                            <a:srgbClr val="1A1A2E"/>
                          </a:solidFill>
                          <a:latin typeface="Calibri" pitchFamily="34" charset="0"/>
                          <a:ea typeface="Calibri" pitchFamily="34" charset="-122"/>
                          <a:cs typeface="Calibri" pitchFamily="34" charset="-120"/>
                        </a:rPr>
                        <a:t>1 day</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2E"/>
                          </a:solidFill>
                          <a:latin typeface="Calibri" pitchFamily="34" charset="0"/>
                          <a:ea typeface="Calibri" pitchFamily="34" charset="-122"/>
                          <a:cs typeface="Calibri" pitchFamily="34" charset="-120"/>
                        </a:rPr>
                        <a:t>−0.037</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2E"/>
                          </a:solidFill>
                          <a:latin typeface="Calibri" pitchFamily="34" charset="0"/>
                          <a:ea typeface="Calibri" pitchFamily="34" charset="-122"/>
                          <a:cs typeface="Calibri" pitchFamily="34" charset="-120"/>
                        </a:rPr>
                        <a:t>−3.26</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2E"/>
                          </a:solidFill>
                          <a:latin typeface="Calibri" pitchFamily="34" charset="0"/>
                          <a:ea typeface="Calibri" pitchFamily="34" charset="-122"/>
                          <a:cs typeface="Calibri" pitchFamily="34" charset="-120"/>
                        </a:rPr>
                        <a:t>0.001</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C7A4B"/>
                          </a:solidFill>
                          <a:latin typeface="Calibri" pitchFamily="34" charset="0"/>
                          <a:ea typeface="Calibri" pitchFamily="34" charset="-122"/>
                          <a:cs typeface="Calibri" pitchFamily="34" charset="-120"/>
                        </a:rPr>
                        <a:t>significant</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ctr">
                        <a:buNone/>
                      </a:pPr>
                      <a:r>
                        <a:rPr lang="en-US" sz="1250" dirty="0">
                          <a:solidFill>
                            <a:srgbClr val="1A1A2E"/>
                          </a:solidFill>
                          <a:latin typeface="Calibri" pitchFamily="34" charset="0"/>
                          <a:ea typeface="Calibri" pitchFamily="34" charset="-122"/>
                          <a:cs typeface="Calibri" pitchFamily="34" charset="-120"/>
                        </a:rPr>
                        <a:t>7 days</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2E"/>
                          </a:solidFill>
                          <a:latin typeface="Calibri" pitchFamily="34" charset="0"/>
                          <a:ea typeface="Calibri" pitchFamily="34" charset="-122"/>
                          <a:cs typeface="Calibri" pitchFamily="34" charset="-120"/>
                        </a:rPr>
                        <a:t>−0.024</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2E"/>
                          </a:solidFill>
                          <a:latin typeface="Calibri" pitchFamily="34" charset="0"/>
                          <a:ea typeface="Calibri" pitchFamily="34" charset="-122"/>
                          <a:cs typeface="Calibri" pitchFamily="34" charset="-120"/>
                        </a:rPr>
                        <a:t>−2.06</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2E"/>
                          </a:solidFill>
                          <a:latin typeface="Calibri" pitchFamily="34" charset="0"/>
                          <a:ea typeface="Calibri" pitchFamily="34" charset="-122"/>
                          <a:cs typeface="Calibri" pitchFamily="34" charset="-120"/>
                        </a:rPr>
                        <a:t>0.040</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C7A4B"/>
                          </a:solidFill>
                          <a:latin typeface="Calibri" pitchFamily="34" charset="0"/>
                          <a:ea typeface="Calibri" pitchFamily="34" charset="-122"/>
                          <a:cs typeface="Calibri" pitchFamily="34" charset="-120"/>
                        </a:rPr>
                        <a:t>significant</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ctr">
                        <a:buNone/>
                      </a:pPr>
                      <a:r>
                        <a:rPr lang="en-US" sz="1250" dirty="0">
                          <a:solidFill>
                            <a:srgbClr val="1A1A2E"/>
                          </a:solidFill>
                          <a:latin typeface="Calibri" pitchFamily="34" charset="0"/>
                          <a:ea typeface="Calibri" pitchFamily="34" charset="-122"/>
                          <a:cs typeface="Calibri" pitchFamily="34" charset="-120"/>
                        </a:rPr>
                        <a:t>14 days</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2E"/>
                          </a:solidFill>
                          <a:latin typeface="Calibri" pitchFamily="34" charset="0"/>
                          <a:ea typeface="Calibri" pitchFamily="34" charset="-122"/>
                          <a:cs typeface="Calibri" pitchFamily="34" charset="-120"/>
                        </a:rPr>
                        <a:t>−0.020</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2E"/>
                          </a:solidFill>
                          <a:latin typeface="Calibri" pitchFamily="34" charset="0"/>
                          <a:ea typeface="Calibri" pitchFamily="34" charset="-122"/>
                          <a:cs typeface="Calibri" pitchFamily="34" charset="-120"/>
                        </a:rPr>
                        <a:t>−1.62</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2E"/>
                          </a:solidFill>
                          <a:latin typeface="Calibri" pitchFamily="34" charset="0"/>
                          <a:ea typeface="Calibri" pitchFamily="34" charset="-122"/>
                          <a:cs typeface="Calibri" pitchFamily="34" charset="-120"/>
                        </a:rPr>
                        <a:t>0.104</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5A6280"/>
                          </a:solidFill>
                          <a:latin typeface="Calibri" pitchFamily="34" charset="0"/>
                          <a:ea typeface="Calibri" pitchFamily="34" charset="-122"/>
                          <a:cs typeface="Calibri" pitchFamily="34" charset="-120"/>
                        </a:rPr>
                        <a:t>suggestive</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ctr">
                        <a:buNone/>
                      </a:pPr>
                      <a:r>
                        <a:rPr lang="en-US" sz="1250" dirty="0">
                          <a:solidFill>
                            <a:srgbClr val="1A1A2E"/>
                          </a:solidFill>
                          <a:latin typeface="Calibri" pitchFamily="34" charset="0"/>
                          <a:ea typeface="Calibri" pitchFamily="34" charset="-122"/>
                          <a:cs typeface="Calibri" pitchFamily="34" charset="-120"/>
                        </a:rPr>
                        <a:t>30 days</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2E"/>
                          </a:solidFill>
                          <a:latin typeface="Calibri" pitchFamily="34" charset="0"/>
                          <a:ea typeface="Calibri" pitchFamily="34" charset="-122"/>
                          <a:cs typeface="Calibri" pitchFamily="34" charset="-120"/>
                        </a:rPr>
                        <a:t>−0.010</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2E"/>
                          </a:solidFill>
                          <a:latin typeface="Calibri" pitchFamily="34" charset="0"/>
                          <a:ea typeface="Calibri" pitchFamily="34" charset="-122"/>
                          <a:cs typeface="Calibri" pitchFamily="34" charset="-120"/>
                        </a:rPr>
                        <a:t>−0.61</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2E"/>
                          </a:solidFill>
                          <a:latin typeface="Calibri" pitchFamily="34" charset="0"/>
                          <a:ea typeface="Calibri" pitchFamily="34" charset="-122"/>
                          <a:cs typeface="Calibri" pitchFamily="34" charset="-120"/>
                        </a:rPr>
                        <a:t>0.542</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5A6280"/>
                          </a:solidFill>
                          <a:latin typeface="Calibri" pitchFamily="34" charset="0"/>
                          <a:ea typeface="Calibri" pitchFamily="34" charset="-122"/>
                          <a:cs typeface="Calibri" pitchFamily="34" charset="-120"/>
                        </a:rPr>
                        <a:t>inconclusive</a:t>
                      </a:r>
                      <a:endParaRPr lang="en-US" sz="1250" dirty="0">
                        <a:latin typeface="Calibri" charset="0"/>
                        <a:ea typeface="Calibri" charset="0"/>
                        <a:cs typeface="Calibri" charset="0"/>
                      </a:endParaRPr>
                    </a:p>
                  </a:txBody>
                  <a:tcPr anchor="ctr">
                    <a:lnL w="9525" cap="flat" cmpd="sng" algn="ctr">
                      <a:solidFill>
                        <a:srgbClr val="D5DEF0"/>
                      </a:solidFill>
                      <a:prstDash val="solid"/>
                      <a:round/>
                      <a:headEnd type="none" w="med" len="med"/>
                      <a:tailEnd type="none" w="med" len="med"/>
                    </a:lnL>
                    <a:lnR w="9525" cap="flat" cmpd="sng" algn="ctr">
                      <a:solidFill>
                        <a:srgbClr val="D5DEF0"/>
                      </a:solidFill>
                      <a:prstDash val="solid"/>
                      <a:round/>
                      <a:headEnd type="none" w="med" len="med"/>
                      <a:tailEnd type="none" w="med" len="med"/>
                    </a:lnR>
                    <a:lnT w="9525" cap="flat" cmpd="sng" algn="ctr">
                      <a:solidFill>
                        <a:srgbClr val="D5DEF0"/>
                      </a:solidFill>
                      <a:prstDash val="solid"/>
                      <a:round/>
                      <a:headEnd type="none" w="med" len="med"/>
                      <a:tailEnd type="none" w="med" len="med"/>
                    </a:lnT>
                    <a:lnB w="9525" cap="flat" cmpd="sng" algn="ctr">
                      <a:solidFill>
                        <a:srgbClr val="D5DE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Shape 12"/>
          <p:cNvSpPr/>
          <p:nvPr/>
        </p:nvSpPr>
        <p:spPr>
          <a:xfrm>
            <a:off x="6400800" y="4892040"/>
            <a:ext cx="5212080" cy="1188720"/>
          </a:xfrm>
          <a:prstGeom prst="roundRect">
            <a:avLst>
              <a:gd name="adj" fmla="val 7692"/>
            </a:avLst>
          </a:prstGeom>
          <a:solidFill>
            <a:srgbClr val="1E2761"/>
          </a:solidFill>
          <a:ln/>
        </p:spPr>
        <p:txBody>
          <a:bodyPr/>
          <a:lstStyle/>
          <a:p>
            <a:endParaRPr lang="en-US"/>
          </a:p>
        </p:txBody>
      </p:sp>
      <p:sp>
        <p:nvSpPr>
          <p:cNvPr id="16" name="Text 13"/>
          <p:cNvSpPr/>
          <p:nvPr/>
        </p:nvSpPr>
        <p:spPr>
          <a:xfrm>
            <a:off x="6675120" y="4892040"/>
            <a:ext cx="4663440" cy="11887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Verdict: </a:t>
            </a:r>
            <a:r>
              <a:rPr lang="en-US" sz="1200" dirty="0">
                <a:solidFill>
                  <a:srgbClr val="CADCFC"/>
                </a:solidFill>
                <a:latin typeface="Calibri" pitchFamily="34" charset="0"/>
                <a:ea typeface="Calibri" pitchFamily="34" charset="-122"/>
                <a:cs typeface="Calibri" pitchFamily="34" charset="-120"/>
              </a:rPr>
              <a:t>Kalshi's advantage is statistically significant in the final week (p = 0.001 at one day; p = 0.04 at seven). At longer horizons the direction still favors Kalshi, but 56 events give the test limited power.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94BD289-B9C0-646B-89C7-034D3EA25CC9}"/>
              </a:ext>
            </a:extLst>
          </p:cNvPr>
          <p:cNvPicPr>
            <a:picLocks noChangeAspect="1"/>
          </p:cNvPicPr>
          <p:nvPr/>
        </p:nvPicPr>
        <p:blipFill>
          <a:blip r:embed="rId2"/>
          <a:stretch>
            <a:fillRect/>
          </a:stretch>
        </p:blipFill>
        <p:spPr>
          <a:xfrm>
            <a:off x="2102608" y="775970"/>
            <a:ext cx="7986784" cy="4994910"/>
          </a:xfrm>
          <a:prstGeom prst="rect">
            <a:avLst/>
          </a:prstGeom>
        </p:spPr>
      </p:pic>
    </p:spTree>
    <p:extLst>
      <p:ext uri="{BB962C8B-B14F-4D97-AF65-F5344CB8AC3E}">
        <p14:creationId xmlns:p14="http://schemas.microsoft.com/office/powerpoint/2010/main" val="12157193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495</Words>
  <Application>Microsoft Macintosh PowerPoint</Application>
  <PresentationFormat>Widescreen</PresentationFormat>
  <Paragraphs>44</Paragraphs>
  <Slides>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Cambria</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Yuang Fu</cp:lastModifiedBy>
  <cp:revision>2</cp:revision>
  <dcterms:created xsi:type="dcterms:W3CDTF">2026-08-11T22:58:05Z</dcterms:created>
  <dcterms:modified xsi:type="dcterms:W3CDTF">2026-08-11T23:06:30Z</dcterms:modified>
</cp:coreProperties>
</file>