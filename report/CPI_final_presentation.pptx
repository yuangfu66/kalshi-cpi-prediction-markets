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06"/>
    <p:restoredTop sz="94610"/>
  </p:normalViewPr>
  <p:slideViewPr>
    <p:cSldViewPr snapToGrid="0" snapToObjects="1">
      <p:cViewPr varScale="1">
        <p:scale>
          <a:sx n="226" d="100"/>
          <a:sy n="226" d="100"/>
        </p:scale>
        <p:origin x="9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Kalshi</c:v>
                </c:pt>
              </c:strCache>
            </c:strRef>
          </c:tx>
          <c:spPr>
            <a:solidFill>
              <a:srgbClr val="1E2A55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026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 days</c:v>
                </c:pt>
                <c:pt idx="1">
                  <c:v>14 days</c:v>
                </c:pt>
                <c:pt idx="2">
                  <c:v>7 days</c:v>
                </c:pt>
                <c:pt idx="3">
                  <c:v>1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0.13700000000000001</c:v>
                </c:pt>
                <c:pt idx="1">
                  <c:v>0.105</c:v>
                </c:pt>
                <c:pt idx="2">
                  <c:v>0.1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27-2543-9BC1-2365D95C9E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Cleveland Fed</c:v>
                </c:pt>
              </c:strCache>
            </c:strRef>
          </c:tx>
          <c:spPr>
            <a:solidFill>
              <a:srgbClr val="D98A2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026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 days</c:v>
                </c:pt>
                <c:pt idx="1">
                  <c:v>14 days</c:v>
                </c:pt>
                <c:pt idx="2">
                  <c:v>7 days</c:v>
                </c:pt>
                <c:pt idx="3">
                  <c:v>1 day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0.15</c:v>
                </c:pt>
                <c:pt idx="1">
                  <c:v>0.127</c:v>
                </c:pt>
                <c:pt idx="2">
                  <c:v>0.126</c:v>
                </c:pt>
                <c:pt idx="3">
                  <c:v>0.128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27-2543-9BC1-2365D95C9E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026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15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opens. ~20s. One line: we test whether a real-money prediction market forecasts U.S. CPI as well as the professionals, using the market's full price history. Then hand into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Presenter 1 —  Sets up the motivation and the market. ~2:15 total for Section 1 (this divider + next two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The pitch in three beats: prices encode a live consensus; if markets are efficient they could match the pros; we test it on Kalshi KXCPI. The rail: 57 releases, 3,484 contract-days, and the forecast is free — no model, no analysts.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Walk the table once: each contract's price is the probability CPI comes in above that threshold. Difference neighbors and you get the odds of each exact outcome. The weighted average — 0.22% here — is the market's point forecast. The mechanics of the differencing are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Nathan (methodology) —  ~2:30 for Section 2. Keep the three rules to one line each; the worked examples are in the appendix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~1:15. Three rules, one line each. (1) Use the quote midpoint — half of days never trade. (2) The distribution sums to one automatically, so we can't lean on that as a coherence check. (3) We cap out-of-order prices with a running minimum and log the size of every fix. Worked examples on real days are in the appendix — good Q&amp;A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~1:10. The design that makes the comparison fair: same opponent (Cleveland Fed nowcast), same truth (first-release CPI for both), same information set (matched by calendar date at four horizons), and a significance test so we don't over-read a noisy gap. Hand into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Presenter 3 —  ~3:25, the heart of the talk.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~1:50. The headline. Navy is Kalshi, amber is the nowcast — Kalshi's bar is lower at every horizon, and the gap grows toward release: 0.090 vs 0.128 one day out. The nowcast plateaus from 14 days in while the market keeps sharpening. RMSE tells the same story (0.125 vs 0.166), so it isn't just a few easy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~1:30. Could the gap be luck? Each month, subtract the nowcast's absolute error from Kalshi's; negative means Kalshi was closer. DM is a t-test on that average. Significant in the final week (p=0.001), suggestive at two weeks, direction consistent everywhere. Showing the two non-significant rows is what makes the significant ones credible. Hand into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Presenter 4 —  ~2:05. Close confidently: state the limitation honestly, then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Credibility comes from naming the weak spots: a short sample over the spike, thin liquidity that occasionally pushes the implied mean out of range, and the shutdown month we drop rather than fake. Each has a planned or implemented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Land it: a free, model-free market matches a professional nowcast and beats it near release; the win is precision, both are unbiased; next steps are consensus + naive baselines, with detail in the written deliverable. Thank the panel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shown in the 10 minutes. Jump here if asked how a specific rule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60-75s. Explain threshold contracts with the example table. Key sentence: differencing adjacent threshold prices turns a set of binary contracts into a full probability distribution over the CPI print, and its weighted average is the market's point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Markets Know Inflation First?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Kalshi's KXCPI prediction markets as real-time forecasts of U.S. CPI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MQE QuantLab Summer Project</a:t>
            </a:r>
            <a:r>
              <a:rPr lang="en-US" sz="13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Final Presentation   ·   August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0" b="1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0" y="2697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betting market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inflation?</a:t>
            </a:r>
            <a:endParaRPr lang="en-US" sz="4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real money bets on the CPI print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74066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85623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174650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not opinions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35608" y="207568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buy and sell contracts on where CPI will land. Prices move continuously and encode a probability-weighted consensus — updated by anyone with money on the 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74066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7355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316382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efficient-market bet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35608" y="349300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markets aggregate information efficiently, those prices could rival professional forecasters — with no econometric model, just incentives to be right.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7406640" cy="1234440"/>
          </a:xfrm>
          <a:prstGeom prst="roundRect">
            <a:avLst>
              <a:gd name="adj" fmla="val 5926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469087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58114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35608" y="491032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that to the test on Kalshi's KXCPI threshold contracts across every monthly release since the market opened.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93608" y="160020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30768" y="17465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30768" y="23408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CPI releases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2021 – Jul 2026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93608" y="301752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30768" y="316382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3,484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430768" y="375818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contract-days of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quotes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93608" y="443484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30768" y="458114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430768" y="517550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forecast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free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works: CPI threshold contracts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6035040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P(above)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Implies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4343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adjacent threshold prices turns a stack of yes/no contracts into a full probability distribution over the CPI print.</a:t>
            </a:r>
            <a:endParaRPr lang="en-US" sz="1250" dirty="0"/>
          </a:p>
        </p:txBody>
      </p:sp>
      <p:sp>
        <p:nvSpPr>
          <p:cNvPr id="3" name="Shape 2"/>
          <p:cNvSpPr/>
          <p:nvPr/>
        </p:nvSpPr>
        <p:spPr>
          <a:xfrm>
            <a:off x="7059168" y="1645920"/>
            <a:ext cx="4562856" cy="3246120"/>
          </a:xfrm>
          <a:prstGeom prst="roundRect">
            <a:avLst>
              <a:gd name="adj" fmla="val 2817"/>
            </a:avLst>
          </a:prstGeom>
          <a:solidFill>
            <a:srgbClr val="1E2A55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79208" y="196596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MARKET'S POINT FORECAST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79208" y="246888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mean = Σ (probability × outcome)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79208" y="2971800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C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.05(0.0) + .17(0.1) + .43(0.2) + .27(0.3) + .08(0.4)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79208" y="3566160"/>
            <a:ext cx="3922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0.22%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79208" y="4480560"/>
            <a:ext cx="3922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the market is willing to back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0" b="1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0" y="2697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prices to a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4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handling the raw data from Kalshi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handling rules — each demonstrated on real KXCPI data in the appendix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7406640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24028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live bid/ask midpoint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3957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last-trade price often does not exist, but live quotes always do. We price every contract at the bid/ask midpoint: bid 25¢, ask 35¢ → a 30% probability.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7406640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61188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sums to one by construction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81328" y="37673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each threshold price from the one below slices the whole 100% into outcomes — the total is exact by construction, nothing to rescale.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7406640" cy="1207008"/>
          </a:xfrm>
          <a:prstGeom prst="roundRect">
            <a:avLst>
              <a:gd name="adj" fmla="val 6061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498348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4754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Monotonicity: measure, fix, 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51389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P(CPI &gt; 0.2%) can never exceed P(CPI &gt; 0.1%); thin quotes sometimes break this rule. A running-minimum cap repairs it, and every fix is logged.</a:t>
            </a:r>
            <a:endParaRPr lang="en-US" sz="1300" dirty="0"/>
          </a:p>
        </p:txBody>
      </p:sp>
      <p:sp>
        <p:nvSpPr>
          <p:cNvPr id="900" name="Shape 900"/>
          <p:cNvSpPr/>
          <p:nvPr/>
        </p:nvSpPr>
        <p:spPr>
          <a:xfrm>
            <a:off x="8293608" y="1828800"/>
            <a:ext cx="3328416" cy="1207008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8430768" y="19751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000" dirty="0"/>
          </a:p>
        </p:txBody>
      </p:sp>
      <p:sp>
        <p:nvSpPr>
          <p:cNvPr id="902" name="Text 902"/>
          <p:cNvSpPr/>
          <p:nvPr/>
        </p:nvSpPr>
        <p:spPr>
          <a:xfrm>
            <a:off x="8430768" y="25694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quoted contract-days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zero trades</a:t>
            </a:r>
            <a:endParaRPr lang="en-US" sz="1150" dirty="0"/>
          </a:p>
        </p:txBody>
      </p:sp>
      <p:sp>
        <p:nvSpPr>
          <p:cNvPr id="910" name="Shape 910"/>
          <p:cNvSpPr/>
          <p:nvPr/>
        </p:nvSpPr>
        <p:spPr>
          <a:xfrm>
            <a:off x="8293608" y="3200400"/>
            <a:ext cx="3328416" cy="1207008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1" name="Text 911"/>
          <p:cNvSpPr/>
          <p:nvPr/>
        </p:nvSpPr>
        <p:spPr>
          <a:xfrm>
            <a:off x="8430768" y="33467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000" dirty="0"/>
          </a:p>
        </p:txBody>
      </p:sp>
      <p:sp>
        <p:nvSpPr>
          <p:cNvPr id="912" name="Text 912"/>
          <p:cNvSpPr/>
          <p:nvPr/>
        </p:nvSpPr>
        <p:spPr>
          <a:xfrm>
            <a:off x="8430768" y="39410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total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3,484 event-days</a:t>
            </a:r>
            <a:endParaRPr lang="en-US" sz="1150" dirty="0"/>
          </a:p>
        </p:txBody>
      </p:sp>
      <p:sp>
        <p:nvSpPr>
          <p:cNvPr id="920" name="Shape 920"/>
          <p:cNvSpPr/>
          <p:nvPr/>
        </p:nvSpPr>
        <p:spPr>
          <a:xfrm>
            <a:off x="8293608" y="4572000"/>
            <a:ext cx="3328416" cy="1207008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1" name="Text 921"/>
          <p:cNvSpPr/>
          <p:nvPr/>
        </p:nvSpPr>
        <p:spPr>
          <a:xfrm>
            <a:off x="8430768" y="47183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000" dirty="0"/>
          </a:p>
        </p:txBody>
      </p:sp>
      <p:sp>
        <p:nvSpPr>
          <p:cNvPr id="922" name="Text 922"/>
          <p:cNvSpPr/>
          <p:nvPr/>
        </p:nvSpPr>
        <p:spPr>
          <a:xfrm>
            <a:off x="8430768" y="53126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days need a fix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under 1¢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 Kalshi vs. the Cleveland Fed nowcast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7406640" cy="12344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85623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174650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benchmark: a professional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07568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Cleveland Fed inflation nowcast: a statistical model that predicts CPI, published every business day. We match it to all 57 settled Kalshi months.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7406640" cy="12344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7355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5608" y="316382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comparison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5608" y="349300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graded against the same answer key — the first-release CPI print — read on the same date: 1, 7, 14, and 30 days before each release. No one sees the future.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7406640" cy="1234440"/>
          </a:xfrm>
          <a:prstGeom prst="roundRect">
            <a:avLst>
              <a:gd name="adj" fmla="val 432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4690872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35608" y="458114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test, not eyeballing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35608" y="491032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Diebold–Mariano test asks: is one forecaster genuinely more accurate, or just luckier month to month? The verdict comes in the results section.</a:t>
            </a:r>
            <a:endParaRPr lang="en-US" sz="1250" dirty="0"/>
          </a:p>
        </p:txBody>
      </p:sp>
      <p:sp>
        <p:nvSpPr>
          <p:cNvPr id="900" name="Shape 900"/>
          <p:cNvSpPr/>
          <p:nvPr/>
        </p:nvSpPr>
        <p:spPr>
          <a:xfrm>
            <a:off x="8293608" y="160020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8430768" y="17465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000" dirty="0"/>
          </a:p>
        </p:txBody>
      </p:sp>
      <p:sp>
        <p:nvSpPr>
          <p:cNvPr id="902" name="Text 902"/>
          <p:cNvSpPr/>
          <p:nvPr/>
        </p:nvSpPr>
        <p:spPr>
          <a:xfrm>
            <a:off x="8430768" y="23408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months matched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daily nowcast</a:t>
            </a:r>
            <a:endParaRPr lang="en-US" sz="1150" dirty="0"/>
          </a:p>
        </p:txBody>
      </p:sp>
      <p:sp>
        <p:nvSpPr>
          <p:cNvPr id="910" name="Shape 910"/>
          <p:cNvSpPr/>
          <p:nvPr/>
        </p:nvSpPr>
        <p:spPr>
          <a:xfrm>
            <a:off x="8293608" y="301752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1" name="Text 911"/>
          <p:cNvSpPr/>
          <p:nvPr/>
        </p:nvSpPr>
        <p:spPr>
          <a:xfrm>
            <a:off x="8430768" y="316382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12" name="Text 912"/>
          <p:cNvSpPr/>
          <p:nvPr/>
        </p:nvSpPr>
        <p:spPr>
          <a:xfrm>
            <a:off x="8430768" y="375818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per month: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7, 14, 30 days out</a:t>
            </a:r>
            <a:endParaRPr lang="en-US" sz="1150" dirty="0"/>
          </a:p>
        </p:txBody>
      </p:sp>
      <p:sp>
        <p:nvSpPr>
          <p:cNvPr id="920" name="Shape 920"/>
          <p:cNvSpPr/>
          <p:nvPr/>
        </p:nvSpPr>
        <p:spPr>
          <a:xfrm>
            <a:off x="8293608" y="4434840"/>
            <a:ext cx="3328416" cy="1234440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1" name="Text 921"/>
          <p:cNvSpPr/>
          <p:nvPr/>
        </p:nvSpPr>
        <p:spPr>
          <a:xfrm>
            <a:off x="8430768" y="458114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000" dirty="0"/>
          </a:p>
        </p:txBody>
      </p:sp>
      <p:sp>
        <p:nvSpPr>
          <p:cNvPr id="922" name="Text 922"/>
          <p:cNvSpPr/>
          <p:nvPr/>
        </p:nvSpPr>
        <p:spPr>
          <a:xfrm>
            <a:off x="8430768" y="517550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months in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0" b="1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0" y="2697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beats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4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beats the model at every horizon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vs. the Cleveland Fed nowcast · 57 settled releases, real-time vintages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69164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horizon before release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93608" y="1691640"/>
            <a:ext cx="3328416" cy="4480560"/>
          </a:xfrm>
          <a:prstGeom prst="roundRect">
            <a:avLst>
              <a:gd name="adj" fmla="val 274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67928" y="196596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67928" y="2377440"/>
            <a:ext cx="27797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is lower — more accurate — at all four horizons.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edge widens as the release nears: 0.090 vs 0.128 pp one day out.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under RMSE too — 0.125 vs 0.166 one day out — which weights the big-surprise months most.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gap real? The Diebold–Mariano test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 of equal accuracy on |error| loss · n = 56 common events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6675120" cy="28346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loss diff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177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loss difference → Kalshi's errors are smaller. p &lt; 0.05 → the gap is unlikely to be luck.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699248" y="1828800"/>
            <a:ext cx="3922776" cy="3017520"/>
          </a:xfrm>
          <a:prstGeom prst="roundRect">
            <a:avLst>
              <a:gd name="adj" fmla="val 3030"/>
            </a:avLst>
          </a:prstGeom>
          <a:solidFill>
            <a:srgbClr val="1E2A55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91856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1856" y="251460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Kalshi's advantage is statistically significant in the final week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 at one day, 0.04 at seven. The direction favors Kalshi at every horizon; 56 events limit the test's power further out.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0" b="1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393192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0" y="2697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means,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what's next</a:t>
            </a:r>
            <a:endParaRPr lang="en-US" sz="4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it back — stated honestly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" y="214884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189280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sample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98848" y="1874520"/>
            <a:ext cx="6848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months, dominated by the 2021–23 inflation spike. Planning a pre/post-2023 split to check the edge holds in calmer regimes.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154680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361188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335584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liquidity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98848" y="3337560"/>
            <a:ext cx="6848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zero-volume days and wide spreads. The implied mean occasionally leaves the [0,1] range — a symptom we measure and flag.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617720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" y="5074920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481888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month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8848" y="4800600"/>
            <a:ext cx="6848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 CPI was never released (government shutdown). We skip it explicitly rather than impute a value.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— and what comes next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7406640" cy="128016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" y="2048256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1783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beats the model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81328" y="216712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before release the market misses by 0.090pp on average vs 0.128 for the Fed nowcast — closer in 33 of 57 months, and too consistent to be luck (p = 0.001).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7406640" cy="1280160"/>
          </a:xfrm>
          <a:prstGeom prst="roundRect">
            <a:avLst>
              <a:gd name="adj" fmla="val 5714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3465576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3200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grows as data arrives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81328" y="358444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improves from a 0.137pp miss 30 days out to 0.090 the day before; the nowcast plateaus near 0.13. Both are unbiased — the win is tighter misses, not direction.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11055096" cy="1280160"/>
          </a:xfrm>
          <a:prstGeom prst="roundRect">
            <a:avLst>
              <a:gd name="adj" fmla="val 5714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" y="4882896"/>
            <a:ext cx="384048" cy="384048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4617720"/>
            <a:ext cx="9912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81328" y="5001768"/>
            <a:ext cx="9912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economist consensus median as a second benchmark, stress-test the liquidity filter and tail assumptions, and extend to year-over-year CPI (KXCPIYOY).</a:t>
            </a:r>
            <a:endParaRPr lang="en-US" sz="1250" dirty="0"/>
          </a:p>
        </p:txBody>
      </p:sp>
      <p:sp>
        <p:nvSpPr>
          <p:cNvPr id="900" name="Shape 900"/>
          <p:cNvSpPr/>
          <p:nvPr/>
        </p:nvSpPr>
        <p:spPr>
          <a:xfrm>
            <a:off x="8293608" y="1600200"/>
            <a:ext cx="3328416" cy="1280160"/>
          </a:xfrm>
          <a:prstGeom prst="roundRect">
            <a:avLst>
              <a:gd name="adj" fmla="val 6667"/>
            </a:avLst>
          </a:prstGeom>
          <a:solidFill>
            <a:srgbClr val="FBF1E2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8430768" y="174650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 57</a:t>
            </a:r>
            <a:endParaRPr lang="en-US" sz="3000" dirty="0"/>
          </a:p>
        </p:txBody>
      </p:sp>
      <p:sp>
        <p:nvSpPr>
          <p:cNvPr id="902" name="Text 902"/>
          <p:cNvSpPr/>
          <p:nvPr/>
        </p:nvSpPr>
        <p:spPr>
          <a:xfrm>
            <a:off x="8430768" y="234086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the market was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print</a:t>
            </a:r>
            <a:endParaRPr lang="en-US" sz="1150" dirty="0"/>
          </a:p>
        </p:txBody>
      </p:sp>
      <p:sp>
        <p:nvSpPr>
          <p:cNvPr id="910" name="Shape 910"/>
          <p:cNvSpPr/>
          <p:nvPr/>
        </p:nvSpPr>
        <p:spPr>
          <a:xfrm>
            <a:off x="8293608" y="3017520"/>
            <a:ext cx="3328416" cy="128016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1" name="Text 911"/>
          <p:cNvSpPr/>
          <p:nvPr/>
        </p:nvSpPr>
        <p:spPr>
          <a:xfrm>
            <a:off x="8430768" y="3163824"/>
            <a:ext cx="30540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−34%</a:t>
            </a:r>
            <a:endParaRPr lang="en-US" sz="3000" dirty="0"/>
          </a:p>
        </p:txBody>
      </p:sp>
      <p:sp>
        <p:nvSpPr>
          <p:cNvPr id="912" name="Text 912"/>
          <p:cNvSpPr/>
          <p:nvPr/>
        </p:nvSpPr>
        <p:spPr>
          <a:xfrm>
            <a:off x="8430768" y="3758184"/>
            <a:ext cx="305409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shrinkage from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out to release eve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34290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backup — worked examples on real KXCPI days, for Q&amp;A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6309360" y="13258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market: monthly CPI threshold contracts on Kalshi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0" y="4739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0" y="4834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mean — the market’s point forecast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52493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probability × outcome: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.05×0.0 + .17×0.1 + .43×0.2 + .27×0.3 + .08×0.4 = 0.216%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prices → probability distribution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583680" y="2057400"/>
          <a:ext cx="4754880" cy="2407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P(above)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662C9F-049E-8E66-43A3-618EFF012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25880"/>
            <a:ext cx="4429760" cy="4609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Price = bid/ask midpoint, not last trade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day: KXCPI-25JAN-T0.4 on Jan 3, 2025 — "Will Jan 2025 CPI rise more than 0.4%?"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r>
              <a:rPr lang="en-US" sz="13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53% of contract-days with live quotes, nothing traded — no trade price exists, and stale prints can be days old.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 </a:t>
            </a:r>
            <a:r>
              <a:rPr lang="en-US" sz="13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midpoint of the closing bid and ask. Quotes are enforceable orders, so they are current even on zero-trade days — and the truth is bracketed between them.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6288" y="1783080"/>
          <a:ext cx="475488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that day (volume)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nothing traded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trade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bid (sell now)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ask (buy now)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 → P(CPI &gt; 0.4%)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(0.25+0.35)/2 = 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12064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last-trade rule would have no price here; the midpoint gives a live 30% forecast. (January CPI printed 0.5% — the contract settled YES.)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Probabilities sum to 1 by construction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day: CPI-23AUG on Sep 11, 2023 (2 days pre-release) — all four informative thresholds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640080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slice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≤ 0.4%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S(0.4)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1 − 0.985 = 0.015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S(0.4) − S(0.5)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0.985 − 0.820 = 0.165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S(0.5) − S(0.6)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0.820 − 0.515 = 0.305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= 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S(0.6) − S(0.7)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0.515 − 0.100 = 0.415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S(0.7)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cancels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1.000 exactly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24928" y="1783080"/>
            <a:ext cx="4197096" cy="3246120"/>
          </a:xfrm>
          <a:prstGeom prst="roundRect">
            <a:avLst>
              <a:gd name="adj" fmla="val 2817"/>
            </a:avLst>
          </a:prstGeom>
          <a:solidFill>
            <a:srgbClr val="EEF2FB"/>
          </a:solidFill>
          <a:ln/>
          <a:effectLst>
            <a:outerShdw blurRad="88900" dist="38100" dir="5400000" algn="bl" rotWithShape="0">
              <a:srgbClr val="9AA3B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99248" y="2148840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(1−S₁) + (S₁−S₂) + (S₂−S₃) + (S₃−S₄) + S₄  = 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99248" y="3108960"/>
            <a:ext cx="3648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telescoping sum — every price cancels, only the 1 survives, for any prices on any day. Verified at exactly 1.0 on all 3,484 event-days, so incoherence must show up as Rule 3.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5166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later the BLS printed 0.6% — the bolded slice.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Out-of-order prices: measure, fix, report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day: CPI-24JAN on Feb 1, 2024 (12 days pre-release) — two prices sit above the one below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60350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P(above)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−0.2%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−0.1%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  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  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76288" y="1783080"/>
            <a:ext cx="47457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P(&gt;−0.1%) can't exceed P(&gt;−0.2%) — but they trade independently and stale quotes invert them. Differencing would give a negative probability.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 </a:t>
            </a: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minimum — cap each price at the one below it. Both offenders drop to 0.900; the recorded mono_violation = 0.07.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 </a:t>
            </a:r>
            <a:r>
              <a:rPr lang="en-US" sz="1250" dirty="0">
                <a:solidFill>
                  <a:srgbClr val="2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size is logged every day: nonzero on 12%, median &lt; 1¢, max 41¢, correlated 0.34 with spreads — a thin-market symptom, reported not hidden.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4BD289-B9C0-646B-89C7-034D3EA2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608" y="775970"/>
            <a:ext cx="7986784" cy="499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19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2430</Words>
  <Application>Microsoft Macintosh PowerPoint</Application>
  <PresentationFormat>Widescreen</PresentationFormat>
  <Paragraphs>304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Markets Know Inflation First?</dc:title>
  <dc:subject>PptxGenJS Presentation</dc:subject>
  <dc:creator>QuantLab CPI Team</dc:creator>
  <cp:lastModifiedBy>Yuang Fu</cp:lastModifiedBy>
  <cp:revision>2</cp:revision>
  <dcterms:created xsi:type="dcterms:W3CDTF">2026-08-18T19:56:49Z</dcterms:created>
  <dcterms:modified xsi:type="dcterms:W3CDTF">2026-08-20T06:14:01Z</dcterms:modified>
</cp:coreProperties>
</file>